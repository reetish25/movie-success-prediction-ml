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B949E"/>
                </a:solidFill>
                <a:latin typeface="Arial"/>
              </a:rPr>
              <a:t>Random Forest — Feature Importance (orange = #1)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8B949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4A0-4FF6-9A8B-72B6FD170C9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4A0-4FF6-9A8B-72B6FD170C9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4A0-4FF6-9A8B-72B6FD170C9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4A0-4FF6-9A8B-72B6FD170C9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4A0-4FF6-9A8B-72B6FD170C9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4A0-4FF6-9A8B-72B6FD170C9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4A0-4FF6-9A8B-72B6FD170C9E}"/>
              </c:ext>
            </c:extLst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4A0-4FF6-9A8B-72B6FD170C9E}"/>
              </c:ext>
            </c:extLst>
          </c:dPt>
          <c:dPt>
            <c:idx val="8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4A0-4FF6-9A8B-72B6FD170C9E}"/>
              </c:ext>
            </c:extLst>
          </c:dPt>
          <c:dPt>
            <c:idx val="9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4A0-4FF6-9A8B-72B6FD170C9E}"/>
              </c:ext>
            </c:extLst>
          </c:dPt>
          <c:dPt>
            <c:idx val="10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B4A0-4FF6-9A8B-72B6FD170C9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6EDF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num_genres</c:v>
                </c:pt>
                <c:pt idx="1">
                  <c:v>release_month</c:v>
                </c:pt>
                <c:pt idx="2">
                  <c:v>genre_enc</c:v>
                </c:pt>
                <c:pt idx="3">
                  <c:v>budget</c:v>
                </c:pt>
                <c:pt idx="4">
                  <c:v>runtime</c:v>
                </c:pt>
                <c:pt idx="5">
                  <c:v>profit</c:v>
                </c:pt>
                <c:pt idx="6">
                  <c:v>revenue</c:v>
                </c:pt>
                <c:pt idx="7">
                  <c:v>vote_average</c:v>
                </c:pt>
                <c:pt idx="8">
                  <c:v>engagement</c:v>
                </c:pt>
                <c:pt idx="9">
                  <c:v>popularity</c:v>
                </c:pt>
                <c:pt idx="10">
                  <c:v>vote_count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0.01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0.06</c:v>
                </c:pt>
                <c:pt idx="6">
                  <c:v>0.09</c:v>
                </c:pt>
                <c:pt idx="7">
                  <c:v>0.12</c:v>
                </c:pt>
                <c:pt idx="8">
                  <c:v>0.23</c:v>
                </c:pt>
                <c:pt idx="9">
                  <c:v>0.26</c:v>
                </c:pt>
                <c:pt idx="10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B4A0-4FF6-9A8B-72B6FD170C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"/>
          <c:min val="0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84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Success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Using Machine Learning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DATA301 — Final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Vidyashilp University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Reetish Kulkarni  |  Nishith R  |  Kartik N 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Submitted: 04 May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301752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C24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1821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5000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Dataset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840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4,803 Movies  |  3 Models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640080"/>
          </a:xfrm>
          <a:prstGeom prst="rect">
            <a:avLst/>
          </a:prstGeom>
          <a:solidFill>
            <a:srgbClr val="1C243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if a movie will be a High, Medium, or Low Performer — before it releases?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7889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72768"/>
            <a:ext cx="278892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934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Revenue?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$500M revenue film costing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$480M is less successful than 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film earning $50M.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ignores budget entirely.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572768"/>
            <a:ext cx="27889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572768"/>
            <a:ext cx="2788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0934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Success Score: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ROI  50%  (financial return)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Rating  30%  (quality + volume)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Popularity  20%  (reach)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572768"/>
            <a:ext cx="278892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572768"/>
            <a:ext cx="278892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934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multi-class problem.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 doesn't exist in raw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we engineer it ourselves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Success Score.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3950208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9776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Low Performer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3950208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9776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Medium Performer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3950208"/>
            <a:ext cx="2194560" cy="384048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9776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High Performer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530352"/>
          </a:xfrm>
          <a:prstGeom prst="rect">
            <a:avLst/>
          </a:prstGeom>
          <a:solidFill>
            <a:srgbClr val="1C2430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869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tmdb_5000_movies.csv 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4,803 × 20   +   </a:t>
            </a: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tmdb_5000_credits.csv 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4,803 × 4   →   </a:t>
            </a: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on 'id'  →  22 columns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2834640" cy="34290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44752"/>
            <a:ext cx="283464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Missing Value Handling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≠ actual zeros — missing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revenue / runtime → NaN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rows: budget, revenue, votes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6210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→ median fill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1513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4,803  →  ~2,800–3,000 rows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1444752"/>
            <a:ext cx="2834640" cy="3429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444752"/>
            <a:ext cx="283464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4813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Outlier Treatment — Winsorisation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0" y="20299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budget, revenue, popularity,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25603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vote_count, runtime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74720" y="30906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method: Q1 − 1.5×IQR  /  Q3 + 1.5×IQR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0" y="36210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outside → CAPPED (not deleted)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74720" y="41513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Blockbusters = real data points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444752"/>
            <a:ext cx="2834640" cy="3429000"/>
          </a:xfrm>
          <a:prstGeom prst="rect">
            <a:avLst/>
          </a:prstGeom>
          <a:solidFill>
            <a:srgbClr val="161B2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444752"/>
            <a:ext cx="2834640" cy="47548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813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Encoding &amp; Scaling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20299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primary_genre (text) → LabelEncoder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25603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mean=0, std=1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30906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ONLY on training data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36210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(transform only) on test data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41513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 via scaling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Target Variable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5120640" cy="3291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−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earnings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(rev − budget) /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per ₹ invested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weighted_rating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vote_avg × log(1+vote_cnt)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× credibility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pop_score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 / max(pop)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Normalised reach 0→1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vote_count /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Votes per minute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release_month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release_date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760720" y="822960"/>
            <a:ext cx="3017520" cy="4069080"/>
          </a:xfrm>
          <a:prstGeom prst="rect">
            <a:avLst/>
          </a:prstGeom>
          <a:solidFill>
            <a:srgbClr val="161B2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87782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Success_Class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52160" y="12984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0.50×ROI + 0.30×Rating + 0.20×Pop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52160" y="2084832"/>
            <a:ext cx="27432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2130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33rd percentile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52160" y="2834640"/>
            <a:ext cx="27432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Performer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3127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33rd – 67th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3584448"/>
            <a:ext cx="27432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630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3877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67th percentile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52160" y="4315968"/>
            <a:ext cx="2834640" cy="438912"/>
          </a:xfrm>
          <a:prstGeom prst="rect">
            <a:avLst/>
          </a:prstGeom>
          <a:solidFill>
            <a:srgbClr val="2D151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43434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roi, weighted_rating, pop_score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X — target leakage prevention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Justification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4297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baseline; fast; interpretable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Transparent; fast 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model non-linear interactions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Non-linear; human-readable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Interpretable; no scaling needed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Prone to overfitting; high variance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ensemble; strong generalisation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Robust; handles noise &amp; non-linearity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interpretable; slower than LR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 kernel)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expensive at n~3000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margin-based classifier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O(n²–n³); impractical 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Distance-based; sensitive to scale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no training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prediction; curse of dimensionality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independence assumption violated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fast; good for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&amp; revenue are correlated — assumption broken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/ LightGBM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DATA301 syllabus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State-of-the-art tabular performance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serves same ensemble 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(MLP)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too small for deep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Powerful for large-scale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 at n~3000; black-box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&amp;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20574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 predictions overall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32888" y="749808"/>
            <a:ext cx="20574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24328" y="8046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24328" y="111556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class — how many truly correct?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45736" y="749808"/>
            <a:ext cx="20574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8046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7176" y="111556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class — how many did we catch?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58584" y="749808"/>
            <a:ext cx="205740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0024" y="80467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 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50024" y="111556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P&amp;R, equal weight per class. PRIMARY.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40280"/>
          <a:ext cx="8503920" cy="15087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(Macro)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(Macro)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 ★  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Good but 2nd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C4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Overfits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20040" y="3858768"/>
            <a:ext cx="850392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904488"/>
            <a:ext cx="8275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 F1 and not Accuracy? — Accuracy ignores class imbalance. A model always predicting 'Medium' gets 33% accuracy and is useless. Macro F1 computes F1 per class and averages equally, so no class is ignored.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462272"/>
            <a:ext cx="8503920" cy="411480"/>
          </a:xfrm>
          <a:prstGeom prst="rect">
            <a:avLst/>
          </a:prstGeom>
          <a:solidFill>
            <a:srgbClr val="0A150A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498848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LR win? The Success Score is a weighted linear formula — LR is perfectly suited to learn linear boundaries. The target itself is near-linearly separable.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Key Insights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749808"/>
          <a:ext cx="4754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257800" y="749808"/>
            <a:ext cx="3520440" cy="960120"/>
          </a:xfrm>
          <a:prstGeom prst="rect">
            <a:avLst/>
          </a:prstGeom>
          <a:solidFill>
            <a:srgbClr val="161B22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49240" y="795528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vote_count is #1  (0.28)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34924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votes = more audience engagement = higher success class. Model learnt this purely from raw features.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257800" y="1801368"/>
            <a:ext cx="3520440" cy="960120"/>
          </a:xfrm>
          <a:prstGeom prst="rect">
            <a:avLst/>
          </a:prstGeom>
          <a:solidFill>
            <a:srgbClr val="161B22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49240" y="1847088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Top 3 = 75%+ predictive power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49240" y="214884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vote_count + popularity + engagement alone explain most of the classification. Engagement beats money.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852928"/>
            <a:ext cx="3520440" cy="960120"/>
          </a:xfrm>
          <a:prstGeom prst="rect">
            <a:avLst/>
          </a:prstGeom>
          <a:solidFill>
            <a:srgbClr val="161B22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898648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Budget ranks near bottom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349240" y="32004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more does NOT guarantee success. A low-budget film with high engagement outranks a blockbuster.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57800" y="3904488"/>
            <a:ext cx="3520440" cy="960120"/>
          </a:xfrm>
          <a:prstGeom prst="rect">
            <a:avLst/>
          </a:prstGeom>
          <a:solidFill>
            <a:srgbClr val="161B22"/>
          </a:solidFill>
          <a:ln w="15240">
            <a:solidFill>
              <a:srgbClr val="8B949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49240" y="3950208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Genre &amp; month negligible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49240" y="42519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engagement metrics are included, genre and month add almost zero extra discriminating information.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4206240" cy="4069080"/>
          </a:xfrm>
          <a:prstGeom prst="rect">
            <a:avLst/>
          </a:prstGeom>
          <a:solidFill>
            <a:srgbClr val="1A0E0E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96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93192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D15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081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Budget data is crowd-sourced on TMDB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may be approximate or absent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93192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D15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939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TMDB popularity is platform-specific,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real-world audience reach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393192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D15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797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'High Performer' is relative to this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only, not an absolute standard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393192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D15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655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marketing spend, screen count, 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data available in TMDB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393192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D15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5137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Historical data may not reflect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streaming-era audience behaviour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841248"/>
            <a:ext cx="3977640" cy="4069080"/>
          </a:xfrm>
          <a:prstGeom prst="rect">
            <a:avLst/>
          </a:prstGeom>
          <a:solidFill>
            <a:srgbClr val="0A1A12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896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371600"/>
            <a:ext cx="374904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0A2D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40817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Add director &amp; actor reputation scores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 power as a numeric feature)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057400"/>
            <a:ext cx="374904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0A2D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09397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Include streaming platform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(Netflix hours, post-theatrical reach)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743200"/>
            <a:ext cx="374904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0A2D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77977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Apply NLP on plot descriptions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(TF-IDF / BERT sentiment analysis)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429000"/>
            <a:ext cx="374904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0A2D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46557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Try XGBoost / LightGBM for potential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4114800"/>
            <a:ext cx="374904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0A2D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15137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Deploy as Flask/Streamlit web 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studio predictions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Microsoft Office PowerPoint</Application>
  <PresentationFormat>On-screen Show (16:9)</PresentationFormat>
  <Paragraphs>207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Ramya Kulkarni</cp:lastModifiedBy>
  <cp:revision>2</cp:revision>
  <dcterms:created xsi:type="dcterms:W3CDTF">2026-05-04T04:25:25Z</dcterms:created>
  <dcterms:modified xsi:type="dcterms:W3CDTF">2026-05-04T04:30:05Z</dcterms:modified>
</cp:coreProperties>
</file>